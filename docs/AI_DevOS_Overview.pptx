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381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2F6FED"/>
                </a:solidFill>
                <a:latin typeface="Calibri"/>
              </a:rPr>
              <a:t>AI DEVOS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An Autonomous Multi-Agent</a:t>
            </a:r>
          </a:p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Software Development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C7D3EE"/>
                </a:solidFill>
                <a:latin typeface="Calibri"/>
              </a:rPr>
              <a:t>How a team of AI agents turns one plain-English idea into a complete software plan — automatically.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093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A6378"/>
                </a:solidFill>
                <a:latin typeface="Calibri"/>
              </a:rPr>
              <a:t>Project Overview  •  Prepared for a general audience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ED"/>
                </a:solidFill>
                <a:latin typeface="Calibri"/>
              </a:rPr>
              <a:t>THE BIG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1B3C"/>
                </a:solidFill>
                <a:latin typeface="Calibri"/>
              </a:rPr>
              <a:t>What Is AI DevOS?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005840" cy="508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60350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222630"/>
                </a:solidFill>
                <a:latin typeface="Calibri"/>
              </a:rPr>
              <a:t>Imagine you could describe an app idea in one sentence — and instead of hiring a whole team, an automated pipeline of specialist AI “agents” does the first pass of the entire job for you: product planning, architecture, UI design, security review, backend and frontend code, testing, documentation, deployment setup, and a project retrospective.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7763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F6FED"/>
                </a:solidFill>
                <a:latin typeface="Calibri"/>
              </a:rPr>
              <a:t>In one sentence: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389120"/>
            <a:ext cx="6035040" cy="155448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572000"/>
            <a:ext cx="5577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1">
                <a:solidFill>
                  <a:srgbClr val="0E1B3C"/>
                </a:solidFill>
                <a:latin typeface="Calibri"/>
              </a:rPr>
              <a:t>AI DevOS is a system where 11 AI “agents” each play one role on a software team, working one after another, so a single request becomes a full set of professional-grade project documents and code.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1737360"/>
            <a:ext cx="4480560" cy="914400"/>
          </a:xfrm>
          <a:prstGeom prst="roundRect">
            <a:avLst>
              <a:gd name="adj" fmla="val 15000"/>
            </a:avLst>
          </a:prstGeom>
          <a:solidFill>
            <a:srgbClr val="0E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1737360"/>
            <a:ext cx="4114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“Build a todo app</a:t>
            </a:r>
          </a:p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with user accounts”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697480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5A6378"/>
                </a:solidFill>
                <a:latin typeface="Calibri"/>
              </a:rPr>
              <a:t>your one-line request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961120" y="3063240"/>
            <a:ext cx="640080" cy="320040"/>
          </a:xfrm>
          <a:prstGeom prst="rightArrow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040880" y="3520440"/>
            <a:ext cx="4480560" cy="914400"/>
          </a:xfrm>
          <a:prstGeom prst="roundRect">
            <a:avLst>
              <a:gd name="adj" fmla="val 15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3520440"/>
            <a:ext cx="4114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11-Stage AI Agent Pipeline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961120" y="4572000"/>
            <a:ext cx="640080" cy="320040"/>
          </a:xfrm>
          <a:prstGeom prst="rightArrow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040880" y="5029200"/>
            <a:ext cx="4480560" cy="1051560"/>
          </a:xfrm>
          <a:prstGeom prst="roundRect">
            <a:avLst>
              <a:gd name="adj" fmla="val 15000"/>
            </a:avLst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5029200"/>
            <a:ext cx="41148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Requirements • Architecture • Design</a:t>
            </a:r>
          </a:p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Security • Code • Tests • Docs • Deployment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378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6378"/>
                </a:solidFill>
                <a:latin typeface="Calibri"/>
              </a:rPr>
              <a:t>AI DevOS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ED"/>
                </a:solidFill>
                <a:latin typeface="Calibri"/>
              </a:rPr>
              <a:t>WHY IT EXISTS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1B3C"/>
                </a:solidFill>
                <a:latin typeface="Calibri"/>
              </a:rPr>
              <a:t>The Problem It Solves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005840" cy="508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2200"/>
              </a:spcAft>
            </a:pPr>
            <a:r>
              <a:rPr sz="1750" b="1">
                <a:solidFill>
                  <a:srgbClr val="2F6FED"/>
                </a:solidFill>
                <a:latin typeface="Calibri"/>
              </a:rPr>
              <a:t>•  Slow starts.</a:t>
            </a:r>
            <a:r>
              <a:rPr sz="1750">
                <a:solidFill>
                  <a:srgbClr val="222630"/>
                </a:solidFill>
                <a:latin typeface="Calibri"/>
              </a:rPr>
              <a:t>  Turning a rough idea into requirements, architecture, and a design spec normally takes days of meetings before anyone writes code.</a:t>
            </a:r>
          </a:p>
          <a:p>
            <a:pPr>
              <a:lnSpc>
                <a:spcPct val="105000"/>
              </a:lnSpc>
              <a:spcAft>
                <a:spcPts val="2200"/>
              </a:spcAft>
            </a:pPr>
            <a:r>
              <a:rPr sz="1750" b="1">
                <a:solidFill>
                  <a:srgbClr val="2F6FED"/>
                </a:solidFill>
                <a:latin typeface="Calibri"/>
              </a:rPr>
              <a:t>•  Inconsistent quality.</a:t>
            </a:r>
            <a:r>
              <a:rPr sz="1750">
                <a:solidFill>
                  <a:srgbClr val="222630"/>
                </a:solidFill>
                <a:latin typeface="Calibri"/>
              </a:rPr>
              <a:t>  Under deadline pressure, teams skip security review, testing plans, or documentation.</a:t>
            </a:r>
          </a:p>
          <a:p>
            <a:pPr>
              <a:lnSpc>
                <a:spcPct val="105000"/>
              </a:lnSpc>
              <a:spcAft>
                <a:spcPts val="2200"/>
              </a:spcAft>
            </a:pPr>
            <a:r>
              <a:rPr sz="1750" b="1">
                <a:solidFill>
                  <a:srgbClr val="2F6FED"/>
                </a:solidFill>
                <a:latin typeface="Calibri"/>
              </a:rPr>
              <a:t>•  Knowledge lives in people's heads.</a:t>
            </a:r>
            <a:r>
              <a:rPr sz="1750">
                <a:solidFill>
                  <a:srgbClr val="222630"/>
                </a:solidFill>
                <a:latin typeface="Calibri"/>
              </a:rPr>
              <a:t>  Decisions and their reasoning aren't written down consistently.</a:t>
            </a:r>
          </a:p>
          <a:p>
            <a:pPr>
              <a:lnSpc>
                <a:spcPct val="105000"/>
              </a:lnSpc>
              <a:spcAft>
                <a:spcPts val="2200"/>
              </a:spcAft>
            </a:pPr>
            <a:r>
              <a:rPr sz="1750" b="1">
                <a:solidFill>
                  <a:srgbClr val="2F6FED"/>
                </a:solidFill>
                <a:latin typeface="Calibri"/>
              </a:rPr>
              <a:t>•  Every project starts from a blank page.</a:t>
            </a:r>
            <a:r>
              <a:rPr sz="1750">
                <a:solidFill>
                  <a:srgbClr val="222630"/>
                </a:solidFill>
                <a:latin typeface="Calibri"/>
              </a:rPr>
              <a:t>  Lessons from the last project rarely make it into the next 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989320"/>
            <a:ext cx="10972800" cy="548640"/>
          </a:xfrm>
          <a:prstGeom prst="roundRect">
            <a:avLst>
              <a:gd name="adj" fmla="val 15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10424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E1B3C"/>
                </a:solidFill>
                <a:latin typeface="Calibri"/>
              </a:rPr>
              <a:t>AI DevOS front-loads all of this into one automated, repeatable pass — before a human ever has 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378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6378"/>
                </a:solidFill>
                <a:latin typeface="Calibri"/>
              </a:rPr>
              <a:t>AI DevOS Overview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ED"/>
                </a:solidFill>
                <a:latin typeface="Calibri"/>
              </a:rPr>
              <a:t>THE 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1B3C"/>
                </a:solidFill>
                <a:latin typeface="Calibri"/>
              </a:rPr>
              <a:t>How It Works, In 30 Seconds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005840" cy="508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664208"/>
            <a:ext cx="38404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0E1B3C"/>
                </a:solidFill>
                <a:latin typeface="Calibri"/>
              </a:rPr>
              <a:t>You describe your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49240" y="1664208"/>
            <a:ext cx="63093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5A6378"/>
                </a:solidFill>
                <a:latin typeface="Calibri"/>
              </a:rPr>
              <a:t>One sentence is enough: “Build a recipe-sharing app called RecipeBox.”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8775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8775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560320"/>
            <a:ext cx="38404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0E1B3C"/>
                </a:solidFill>
                <a:latin typeface="Calibri"/>
              </a:rPr>
              <a:t>AI DevOS creates a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2560320"/>
            <a:ext cx="63093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5A6378"/>
                </a:solidFill>
                <a:latin typeface="Calibri"/>
              </a:rPr>
              <a:t>A private, isolated workspace is created just for this idea.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83864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48386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456432"/>
            <a:ext cx="38404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0E1B3C"/>
                </a:solidFill>
                <a:latin typeface="Calibri"/>
              </a:rPr>
              <a:t>11 AI specialists take turns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3456432"/>
            <a:ext cx="63093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5A6378"/>
                </a:solidFill>
                <a:latin typeface="Calibri"/>
              </a:rPr>
              <a:t>Each one reads the previous specialist's work and adds their own piece.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379976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37997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352544"/>
            <a:ext cx="38404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0E1B3C"/>
                </a:solidFill>
                <a:latin typeface="Calibri"/>
              </a:rPr>
              <a:t>Every piece is quality-checked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4352544"/>
            <a:ext cx="63093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5A6378"/>
                </a:solidFill>
                <a:latin typeface="Calibri"/>
              </a:rPr>
              <a:t>A reviewer checks each specialist's output before it's accepted; weak work is sent back with feedback.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27608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27608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5248656"/>
            <a:ext cx="38404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0E1B3C"/>
                </a:solidFill>
                <a:latin typeface="Calibri"/>
              </a:rPr>
              <a:t>You get a complete package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5248656"/>
            <a:ext cx="63093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5A6378"/>
                </a:solidFill>
                <a:latin typeface="Calibri"/>
              </a:rPr>
              <a:t>Requirements, architecture, UI design, security review, real code, tests, docs, and a deployment plan.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378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6378"/>
                </a:solidFill>
                <a:latin typeface="Calibri"/>
              </a:rPr>
              <a:t>AI DevOS Overview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ED"/>
                </a:solidFill>
                <a:latin typeface="Calibri"/>
              </a:rPr>
              <a:t>THE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1B3C"/>
                </a:solidFill>
                <a:latin typeface="Calibri"/>
              </a:rPr>
              <a:t>Meet Your AI Team — Part 1 of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005840" cy="508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349240" cy="132588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09728" cy="1325880"/>
          </a:xfrm>
          <a:prstGeom prst="rect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01368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E1B3C"/>
                </a:solidFill>
                <a:latin typeface="Calibri"/>
              </a:rPr>
              <a:t>1. Strategic Reviewer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4800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A6378"/>
                </a:solidFill>
                <a:latin typeface="Calibri"/>
              </a:rPr>
              <a:t>Sanity-checks the idea itself before any work begins: is this worth building, what's the real goal?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691640"/>
            <a:ext cx="5349240" cy="132588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691640"/>
            <a:ext cx="109728" cy="132588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801368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E1B3C"/>
                </a:solidFill>
                <a:latin typeface="Calibri"/>
              </a:rPr>
              <a:t>2. Product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194560"/>
            <a:ext cx="4800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A6378"/>
                </a:solidFill>
                <a:latin typeface="Calibri"/>
              </a:rPr>
              <a:t>Turns the idea into concrete goals, user stories, and acceptance criteria — what “done” actually means.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246120"/>
            <a:ext cx="5349240" cy="132588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246120"/>
            <a:ext cx="109728" cy="1325880"/>
          </a:xfrm>
          <a:prstGeom prst="rect">
            <a:avLst/>
          </a:prstGeom>
          <a:solidFill>
            <a:srgbClr val="0E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355848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E1B3C"/>
                </a:solidFill>
                <a:latin typeface="Calibri"/>
              </a:rPr>
              <a:t>3. Architect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749040"/>
            <a:ext cx="4800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A6378"/>
                </a:solidFill>
                <a:latin typeface="Calibri"/>
              </a:rPr>
              <a:t>Designs the technical blueprint: what components exist, how they talk to each other, what APIs are needed.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246120"/>
            <a:ext cx="5349240" cy="132588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3246120"/>
            <a:ext cx="109728" cy="1325880"/>
          </a:xfrm>
          <a:prstGeom prst="rect">
            <a:avLst/>
          </a:prstGeom>
          <a:solidFill>
            <a:srgbClr val="E0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3355848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E1B3C"/>
                </a:solidFill>
                <a:latin typeface="Calibri"/>
              </a:rPr>
              <a:t>4. Designer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749040"/>
            <a:ext cx="4800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A6378"/>
                </a:solidFill>
                <a:latin typeface="Calibri"/>
              </a:rPr>
              <a:t>Designs the user experience: screens, user flows, components, and the visual design system.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800600"/>
            <a:ext cx="5349240" cy="132588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800600"/>
            <a:ext cx="109728" cy="1325880"/>
          </a:xfrm>
          <a:prstGeom prst="rect">
            <a:avLst/>
          </a:prstGeom>
          <a:solidFill>
            <a:srgbClr val="D94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10328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E1B3C"/>
                </a:solidFill>
                <a:latin typeface="Calibri"/>
              </a:rPr>
              <a:t>5. Security Expert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303520"/>
            <a:ext cx="4800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A6378"/>
                </a:solidFill>
                <a:latin typeface="Calibri"/>
              </a:rPr>
              <a:t>Reviews the plan for vulnerabilities (OWASP-style) before a single line of code is written.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4800600"/>
            <a:ext cx="5349240" cy="132588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80" y="4800600"/>
            <a:ext cx="109728" cy="1325880"/>
          </a:xfrm>
          <a:prstGeom prst="rect">
            <a:avLst/>
          </a:prstGeom>
          <a:solidFill>
            <a:srgbClr val="2E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4910328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E1B3C"/>
                </a:solidFill>
                <a:latin typeface="Calibri"/>
              </a:rPr>
              <a:t>6. Backend Developer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5303520"/>
            <a:ext cx="4800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A6378"/>
                </a:solidFill>
                <a:latin typeface="Calibri"/>
              </a:rPr>
              <a:t>Writes the server-side code: APIs, business logic, and database access.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378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6378"/>
                </a:solidFill>
                <a:latin typeface="Calibri"/>
              </a:rPr>
              <a:t>AI DevOS Overview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ED"/>
                </a:solidFill>
                <a:latin typeface="Calibri"/>
              </a:rPr>
              <a:t>THE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1B3C"/>
                </a:solidFill>
                <a:latin typeface="Calibri"/>
              </a:rPr>
              <a:t>Meet Your AI Team — Part 2 of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005840" cy="508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349240" cy="1170432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09728" cy="1170432"/>
          </a:xfrm>
          <a:prstGeom prst="rect">
            <a:avLst/>
          </a:prstGeom>
          <a:solidFill>
            <a:srgbClr val="2E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E1B3C"/>
                </a:solidFill>
                <a:latin typeface="Calibri"/>
              </a:rPr>
              <a:t>7. Frontend Developer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48006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A6378"/>
                </a:solidFill>
                <a:latin typeface="Calibri"/>
              </a:rPr>
              <a:t>Builds the UI code exactly to the Designer's spec — every screen, every state (loading, error, empty).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691640"/>
            <a:ext cx="5349240" cy="1170432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691640"/>
            <a:ext cx="109728" cy="1170432"/>
          </a:xfrm>
          <a:prstGeom prst="rect">
            <a:avLst/>
          </a:prstGeom>
          <a:solidFill>
            <a:srgbClr val="E0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783080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E1B3C"/>
                </a:solidFill>
                <a:latin typeface="Calibri"/>
              </a:rPr>
              <a:t>8. QA Tester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148840"/>
            <a:ext cx="48006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A6378"/>
                </a:solidFill>
                <a:latin typeface="Calibri"/>
              </a:rPr>
              <a:t>Writes test cases, estimates coverage, and logs bugs before anything ships.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971800"/>
            <a:ext cx="5349240" cy="1170432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971800"/>
            <a:ext cx="109728" cy="1170432"/>
          </a:xfrm>
          <a:prstGeom prst="rect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063240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E1B3C"/>
                </a:solidFill>
                <a:latin typeface="Calibri"/>
              </a:rPr>
              <a:t>9. Technical Writer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29000"/>
            <a:ext cx="48006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A6378"/>
                </a:solidFill>
                <a:latin typeface="Calibri"/>
              </a:rPr>
              <a:t>Produces documentation updates so the project is understandable to the next person.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971800"/>
            <a:ext cx="5349240" cy="1170432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2971800"/>
            <a:ext cx="109728" cy="1170432"/>
          </a:xfrm>
          <a:prstGeom prst="rect">
            <a:avLst/>
          </a:prstGeom>
          <a:solidFill>
            <a:srgbClr val="0E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3063240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E1B3C"/>
                </a:solidFill>
                <a:latin typeface="Calibri"/>
              </a:rPr>
              <a:t>10. DevOps Engineer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429000"/>
            <a:ext cx="48006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A6378"/>
                </a:solidFill>
                <a:latin typeface="Calibri"/>
              </a:rPr>
              <a:t>Prepares the deployment plan: environments, commands, and a rollback plan.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251960"/>
            <a:ext cx="5349240" cy="1170432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251960"/>
            <a:ext cx="109728" cy="1170432"/>
          </a:xfrm>
          <a:prstGeom prst="rect">
            <a:avLst/>
          </a:prstGeom>
          <a:solidFill>
            <a:srgbClr val="D94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343400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E1B3C"/>
                </a:solidFill>
                <a:latin typeface="Calibri"/>
              </a:rPr>
              <a:t>11. Retrospective Facilitator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709160"/>
            <a:ext cx="48006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A6378"/>
                </a:solidFill>
                <a:latin typeface="Calibri"/>
              </a:rPr>
              <a:t>Closes the loop: what worked, what didn't, and what to carry into the next project.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532120"/>
            <a:ext cx="11155680" cy="731520"/>
          </a:xfrm>
          <a:prstGeom prst="roundRect">
            <a:avLst>
              <a:gd name="adj" fmla="val 1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532120"/>
            <a:ext cx="107899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0E1B3C"/>
                </a:solidFill>
                <a:latin typeface="Calibri"/>
              </a:rPr>
              <a:t>Every one of these 11 roles is backed by a real AI model call — none of them are placeholders. Each one has its own instructions, its own expected output format, and its own quality checklist.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378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6378"/>
                </a:solidFill>
                <a:latin typeface="Calibri"/>
              </a:rPr>
              <a:t>AI DevOS Overview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ED"/>
                </a:solidFill>
                <a:latin typeface="Calibri"/>
              </a:rPr>
              <a:t>THE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1B3C"/>
                </a:solidFill>
                <a:latin typeface="Calibri"/>
              </a:rPr>
              <a:t>The 11-Stage Assembly 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005840" cy="508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8863" y="2377440"/>
            <a:ext cx="932688" cy="914400"/>
          </a:xfrm>
          <a:prstGeom prst="roundRect">
            <a:avLst>
              <a:gd name="adj" fmla="val 12000"/>
            </a:avLst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8863" y="2377440"/>
            <a:ext cx="89268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Strategic</a:t>
            </a:r>
          </a:p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1551" y="2651760"/>
            <a:ext cx="109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5A6378"/>
                </a:solidFill>
                <a:latin typeface="Calibri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32991" y="2377440"/>
            <a:ext cx="932688" cy="914400"/>
          </a:xfrm>
          <a:prstGeom prst="roundRect">
            <a:avLst>
              <a:gd name="adj" fmla="val 12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2991" y="2377440"/>
            <a:ext cx="89268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Product</a:t>
            </a:r>
          </a:p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Owner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5679" y="2651760"/>
            <a:ext cx="109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5A6378"/>
                </a:solidFill>
                <a:latin typeface="Calibri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57119" y="2377440"/>
            <a:ext cx="932688" cy="914400"/>
          </a:xfrm>
          <a:prstGeom prst="roundRect">
            <a:avLst>
              <a:gd name="adj" fmla="val 12000"/>
            </a:avLst>
          </a:prstGeom>
          <a:solidFill>
            <a:srgbClr val="0E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77119" y="2377440"/>
            <a:ext cx="89268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Architect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9807" y="2651760"/>
            <a:ext cx="109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5A6378"/>
                </a:solidFill>
                <a:latin typeface="Calibr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81247" y="2377440"/>
            <a:ext cx="932688" cy="914400"/>
          </a:xfrm>
          <a:prstGeom prst="roundRect">
            <a:avLst>
              <a:gd name="adj" fmla="val 12000"/>
            </a:avLst>
          </a:prstGeom>
          <a:solidFill>
            <a:srgbClr val="E0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1247" y="2377440"/>
            <a:ext cx="89268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Designer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3935" y="2651760"/>
            <a:ext cx="109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5A6378"/>
                </a:solidFill>
                <a:latin typeface="Calibri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05375" y="2377440"/>
            <a:ext cx="932688" cy="914400"/>
          </a:xfrm>
          <a:prstGeom prst="roundRect">
            <a:avLst>
              <a:gd name="adj" fmla="val 12000"/>
            </a:avLst>
          </a:prstGeom>
          <a:solidFill>
            <a:srgbClr val="D94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5375" y="2377440"/>
            <a:ext cx="89268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8063" y="2651760"/>
            <a:ext cx="109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5A6378"/>
                </a:solidFill>
                <a:latin typeface="Calibri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29503" y="2377440"/>
            <a:ext cx="932688" cy="914400"/>
          </a:xfrm>
          <a:prstGeom prst="roundRect">
            <a:avLst>
              <a:gd name="adj" fmla="val 12000"/>
            </a:avLst>
          </a:prstGeom>
          <a:solidFill>
            <a:srgbClr val="2E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49503" y="2377440"/>
            <a:ext cx="89268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Backend</a:t>
            </a:r>
          </a:p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Dev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2191" y="2651760"/>
            <a:ext cx="109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5A6378"/>
                </a:solidFill>
                <a:latin typeface="Calibri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53631" y="2377440"/>
            <a:ext cx="932688" cy="914400"/>
          </a:xfrm>
          <a:prstGeom prst="roundRect">
            <a:avLst>
              <a:gd name="adj" fmla="val 12000"/>
            </a:avLst>
          </a:prstGeom>
          <a:solidFill>
            <a:srgbClr val="2E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3631" y="2377440"/>
            <a:ext cx="89268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Frontend</a:t>
            </a:r>
          </a:p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Dev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6319" y="2651760"/>
            <a:ext cx="109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5A6378"/>
                </a:solidFill>
                <a:latin typeface="Calibri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77759" y="2377440"/>
            <a:ext cx="932688" cy="914400"/>
          </a:xfrm>
          <a:prstGeom prst="roundRect">
            <a:avLst>
              <a:gd name="adj" fmla="val 12000"/>
            </a:avLst>
          </a:prstGeom>
          <a:solidFill>
            <a:srgbClr val="E0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97759" y="2377440"/>
            <a:ext cx="89268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QA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10447" y="2651760"/>
            <a:ext cx="109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5A6378"/>
                </a:solidFill>
                <a:latin typeface="Calibri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01887" y="2377440"/>
            <a:ext cx="932688" cy="914400"/>
          </a:xfrm>
          <a:prstGeom prst="roundRect">
            <a:avLst>
              <a:gd name="adj" fmla="val 12000"/>
            </a:avLst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21887" y="2377440"/>
            <a:ext cx="89268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Document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4575" y="2651760"/>
            <a:ext cx="109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5A6378"/>
                </a:solidFill>
                <a:latin typeface="Calibri"/>
              </a:rP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26015" y="2377440"/>
            <a:ext cx="932688" cy="914400"/>
          </a:xfrm>
          <a:prstGeom prst="roundRect">
            <a:avLst>
              <a:gd name="adj" fmla="val 12000"/>
            </a:avLst>
          </a:prstGeom>
          <a:solidFill>
            <a:srgbClr val="0E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46015" y="2377440"/>
            <a:ext cx="89268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DevOps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58703" y="2651760"/>
            <a:ext cx="109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5A6378"/>
                </a:solidFill>
                <a:latin typeface="Calibri"/>
              </a:rPr>
              <a:t>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750143" y="2377440"/>
            <a:ext cx="932688" cy="914400"/>
          </a:xfrm>
          <a:prstGeom prst="roundRect">
            <a:avLst>
              <a:gd name="adj" fmla="val 12000"/>
            </a:avLst>
          </a:prstGeom>
          <a:solidFill>
            <a:srgbClr val="D94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770143" y="2377440"/>
            <a:ext cx="89268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Retro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8863" y="3429000"/>
            <a:ext cx="11173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A6378"/>
                </a:solidFill>
                <a:latin typeface="Calibri"/>
              </a:rPr>
              <a:t>each stage feeds the next automatically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1605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F6FED"/>
                </a:solidFill>
                <a:latin typeface="Calibri"/>
              </a:rPr>
              <a:t>Why this order?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57200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50">
                <a:solidFill>
                  <a:srgbClr val="222630"/>
                </a:solidFill>
                <a:latin typeface="Calibri"/>
              </a:rPr>
              <a:t>•  Planning before building: Strategic Review → Product Owner → Architect → Designer → Security all happen before any code exists.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50">
                <a:solidFill>
                  <a:srgbClr val="222630"/>
                </a:solidFill>
                <a:latin typeface="Calibri"/>
              </a:rPr>
              <a:t>•  Design before implementation: Frontend code is never written until an approved design spec exists.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50">
                <a:solidFill>
                  <a:srgbClr val="222630"/>
                </a:solidFill>
                <a:latin typeface="Calibri"/>
              </a:rPr>
              <a:t>•  Verification before delivery: QA, Documentation, and DevOps run only after both Backend and Frontend are done.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50">
                <a:solidFill>
                  <a:srgbClr val="222630"/>
                </a:solidFill>
                <a:latin typeface="Calibri"/>
              </a:rPr>
              <a:t>•  Reflection last: Retro captures lessons for next time, once everything else is finished.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378"/>
                </a:solidFill>
                <a:latin typeface="Calibri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6378"/>
                </a:solidFill>
                <a:latin typeface="Calibri"/>
              </a:rPr>
              <a:t>AI DevOS Overview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ED"/>
                </a:solidFill>
                <a:latin typeface="Calibri"/>
              </a:rPr>
              <a:t>BEHIND THE CLICK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1B3C"/>
                </a:solidFill>
                <a:latin typeface="Calibri"/>
              </a:rPr>
              <a:t>What Actually Happens When You Press “Start”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005840" cy="508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650" b="1">
                <a:solidFill>
                  <a:srgbClr val="2F6FED"/>
                </a:solidFill>
                <a:latin typeface="Calibri"/>
              </a:rPr>
              <a:t>1.</a:t>
            </a:r>
            <a:r>
              <a:rPr sz="1650">
                <a:solidFill>
                  <a:srgbClr val="222630"/>
                </a:solidFill>
                <a:latin typeface="Calibri"/>
              </a:rPr>
              <a:t>  You call one API endpoint with your project's name and description.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650" b="1">
                <a:solidFill>
                  <a:srgbClr val="2F6FED"/>
                </a:solidFill>
                <a:latin typeface="Calibri"/>
              </a:rPr>
              <a:t>2.</a:t>
            </a:r>
            <a:r>
              <a:rPr sz="1650">
                <a:solidFill>
                  <a:srgbClr val="222630"/>
                </a:solidFill>
                <a:latin typeface="Calibri"/>
              </a:rPr>
              <a:t>  The system checks the project is real, then begins Stage 1 (Strategic Review).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650" b="1">
                <a:solidFill>
                  <a:srgbClr val="2F6FED"/>
                </a:solidFill>
                <a:latin typeface="Calibri"/>
              </a:rPr>
              <a:t>3.</a:t>
            </a:r>
            <a:r>
              <a:rPr sz="1650">
                <a:solidFill>
                  <a:srgbClr val="222630"/>
                </a:solidFill>
                <a:latin typeface="Calibri"/>
              </a:rPr>
              <a:t>  For each stage: it loads what the previous stage produced, builds a role-specific instruction for the AI model, and sends it off.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650" b="1">
                <a:solidFill>
                  <a:srgbClr val="2F6FED"/>
                </a:solidFill>
                <a:latin typeface="Calibri"/>
              </a:rPr>
              <a:t>4.</a:t>
            </a:r>
            <a:r>
              <a:rPr sz="1650">
                <a:solidFill>
                  <a:srgbClr val="222630"/>
                </a:solidFill>
                <a:latin typeface="Calibri"/>
              </a:rPr>
              <a:t>  The AI model's answer is checked by an automatic reviewer for quality and completeness.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650" b="1">
                <a:solidFill>
                  <a:srgbClr val="2F6FED"/>
                </a:solidFill>
                <a:latin typeface="Calibri"/>
              </a:rPr>
              <a:t>5.</a:t>
            </a:r>
            <a:r>
              <a:rPr sz="1650">
                <a:solidFill>
                  <a:srgbClr val="222630"/>
                </a:solidFill>
                <a:latin typeface="Calibri"/>
              </a:rPr>
              <a:t>  If it passes — it's saved, and the pipeline moves to the next stage. If it fails — the AI gets specific feedback and tries again (up to 3 times).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650" b="1">
                <a:solidFill>
                  <a:srgbClr val="2F6FED"/>
                </a:solidFill>
                <a:latin typeface="Calibri"/>
              </a:rPr>
              <a:t>6.</a:t>
            </a:r>
            <a:r>
              <a:rPr sz="1650">
                <a:solidFill>
                  <a:srgbClr val="222630"/>
                </a:solidFill>
                <a:latin typeface="Calibri"/>
              </a:rPr>
              <a:t>  This repeats for all 11 stages, in order, without any human clicking “next.”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650" b="1">
                <a:solidFill>
                  <a:srgbClr val="2F6FED"/>
                </a:solidFill>
                <a:latin typeface="Calibri"/>
              </a:rPr>
              <a:t>7.</a:t>
            </a:r>
            <a:r>
              <a:rPr sz="1650">
                <a:solidFill>
                  <a:srgbClr val="222630"/>
                </a:solidFill>
                <a:latin typeface="Calibri"/>
              </a:rPr>
              <a:t>  At the end, you have a full folder of documents and code — one set per stage — plus a live progress record you can check at any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378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6378"/>
                </a:solidFill>
                <a:latin typeface="Calibri"/>
              </a:rPr>
              <a:t>AI DevOS Overview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ED"/>
                </a:solidFill>
                <a:latin typeface="Calibri"/>
              </a:rPr>
              <a:t>ZOOMING 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1B3C"/>
                </a:solidFill>
                <a:latin typeface="Calibri"/>
              </a:rPr>
              <a:t>Anatomy of a Single Stage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005840" cy="508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78027" y="1965960"/>
            <a:ext cx="2331720" cy="1188720"/>
          </a:xfrm>
          <a:prstGeom prst="roundRect">
            <a:avLst>
              <a:gd name="adj" fmla="val 10000"/>
            </a:avLst>
          </a:prstGeom>
          <a:solidFill>
            <a:srgbClr val="5A6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8027" y="210312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9467" y="2496312"/>
            <a:ext cx="21488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Previous stage's</a:t>
            </a:r>
          </a:p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approved output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64611" y="2404872"/>
            <a:ext cx="384048" cy="292608"/>
          </a:xfrm>
          <a:prstGeom prst="rightArrow">
            <a:avLst/>
          </a:prstGeom>
          <a:solidFill>
            <a:srgbClr val="5A6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12667" y="1965960"/>
            <a:ext cx="2331720" cy="1188720"/>
          </a:xfrm>
          <a:prstGeom prst="roundRect">
            <a:avLst>
              <a:gd name="adj" fmla="val 10000"/>
            </a:avLst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12667" y="210312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Prompt Builder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4107" y="2496312"/>
            <a:ext cx="21488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Turns it into role-</a:t>
            </a:r>
          </a:p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specific instructions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99251" y="2404872"/>
            <a:ext cx="384048" cy="292608"/>
          </a:xfrm>
          <a:prstGeom prst="rightArrow">
            <a:avLst/>
          </a:prstGeom>
          <a:solidFill>
            <a:srgbClr val="5A6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47307" y="1965960"/>
            <a:ext cx="2331720" cy="1188720"/>
          </a:xfrm>
          <a:prstGeom prst="roundRect">
            <a:avLst>
              <a:gd name="adj" fmla="val 10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7307" y="210312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AI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8747" y="2496312"/>
            <a:ext cx="21488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Generates a</a:t>
            </a:r>
          </a:p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draft answer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733891" y="2404872"/>
            <a:ext cx="384048" cy="292608"/>
          </a:xfrm>
          <a:prstGeom prst="rightArrow">
            <a:avLst/>
          </a:prstGeom>
          <a:solidFill>
            <a:srgbClr val="5A6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81947" y="1965960"/>
            <a:ext cx="2331720" cy="1188720"/>
          </a:xfrm>
          <a:prstGeom prst="roundRect">
            <a:avLst>
              <a:gd name="adj" fmla="val 10000"/>
            </a:avLst>
          </a:prstGeom>
          <a:solidFill>
            <a:srgbClr val="E0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1947" y="210312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Reviewer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73387" y="2496312"/>
            <a:ext cx="21488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Checks quality &amp;</a:t>
            </a:r>
          </a:p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completeness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1947" y="338328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A6378"/>
                </a:solidFill>
                <a:latin typeface="Calibri"/>
              </a:rPr>
              <a:t>decision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0347" y="3794760"/>
            <a:ext cx="2011680" cy="777240"/>
          </a:xfrm>
          <a:prstGeom prst="roundRect">
            <a:avLst>
              <a:gd name="adj" fmla="val 15000"/>
            </a:avLst>
          </a:prstGeom>
          <a:solidFill>
            <a:srgbClr val="2E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0347" y="3794760"/>
            <a:ext cx="2011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✓ Approved</a:t>
            </a:r>
          </a:p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Saved as final artifact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30587" y="3794760"/>
            <a:ext cx="2011680" cy="777240"/>
          </a:xfrm>
          <a:prstGeom prst="roundRect">
            <a:avLst>
              <a:gd name="adj" fmla="val 15000"/>
            </a:avLst>
          </a:prstGeom>
          <a:solidFill>
            <a:srgbClr val="D94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0587" y="3794760"/>
            <a:ext cx="2011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✗ Rejected</a:t>
            </a:r>
          </a:p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Retry with feedback</a:t>
            </a:r>
          </a:p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(up to 3 tries)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846320"/>
            <a:ext cx="11064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5A6378"/>
                </a:solidFill>
                <a:latin typeface="Calibri"/>
              </a:rPr>
              <a:t>Every attempt — approved or rejected — is saved to disk with a timestamp, so nothing is ever silently lost or overwritten. The system also remembers what worked well in the past and quietly suggests those patterns to future stages of the same project.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378"/>
                </a:solidFill>
                <a:latin typeface="Calibri"/>
              </a:rPr>
              <a:t>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6378"/>
                </a:solidFill>
                <a:latin typeface="Calibri"/>
              </a:rPr>
              <a:t>AI DevOS Overview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ED"/>
                </a:solidFill>
                <a:latin typeface="Calibri"/>
              </a:rPr>
              <a:t>QUALITY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1B3C"/>
                </a:solidFill>
                <a:latin typeface="Calibri"/>
              </a:rPr>
              <a:t>How AI DevOS Catches Bad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005840" cy="508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 i="0">
                <a:solidFill>
                  <a:srgbClr val="222630"/>
                </a:solidFill>
                <a:latin typeface="Calibri"/>
              </a:rPr>
              <a:t>Every single output is graded using a traffic-light system before it's ever accepted: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3611880" cy="685800"/>
          </a:xfrm>
          <a:prstGeom prst="roundRect">
            <a:avLst>
              <a:gd name="adj" fmla="val 8000"/>
            </a:avLst>
          </a:prstGeom>
          <a:solidFill>
            <a:srgbClr val="2E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36118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AUTO-FIX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0896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0E1B3C"/>
                </a:solidFill>
                <a:latin typeface="Calibri"/>
              </a:rPr>
              <a:t>Small, mechanical issues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11880"/>
            <a:ext cx="3154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A6378"/>
                </a:solidFill>
                <a:latin typeface="Calibri"/>
              </a:rPr>
              <a:t>The system fixes it automatically — e.g. filling in a missing default — and keeps moving.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28600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3400" y="2286000"/>
            <a:ext cx="3611880" cy="685800"/>
          </a:xfrm>
          <a:prstGeom prst="roundRect">
            <a:avLst>
              <a:gd name="adj" fmla="val 8000"/>
            </a:avLst>
          </a:prstGeom>
          <a:solidFill>
            <a:srgbClr val="E0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286000"/>
            <a:ext cx="36118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ASK HUMAN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10896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0E1B3C"/>
                </a:solidFill>
                <a:latin typeface="Calibri"/>
              </a:rPr>
              <a:t>Judgment calls / missing pieces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611880"/>
            <a:ext cx="3154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A6378"/>
                </a:solidFill>
                <a:latin typeface="Calibri"/>
              </a:rPr>
              <a:t>This blocks approval. Examples: no structured output was produced, or content is too short to be useful.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28600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38160" y="2286000"/>
            <a:ext cx="3611880" cy="685800"/>
          </a:xfrm>
          <a:prstGeom prst="roundRect">
            <a:avLst>
              <a:gd name="adj" fmla="val 8000"/>
            </a:avLst>
          </a:prstGeom>
          <a:solidFill>
            <a:srgbClr val="D94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2286000"/>
            <a:ext cx="36118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FLAG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10896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0E1B3C"/>
                </a:solidFill>
                <a:latin typeface="Calibri"/>
              </a:rPr>
              <a:t>Worth noting, doesn't block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611880"/>
            <a:ext cx="3154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A6378"/>
                </a:solidFill>
                <a:latin typeface="Calibri"/>
              </a:rPr>
              <a:t>Logged for visibility — e.g. unusually long output, or low overall quality score — but doesn't stop the pipeline.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349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1">
                <a:solidFill>
                  <a:srgbClr val="0E1B3C"/>
                </a:solidFill>
                <a:latin typeface="Calibri"/>
              </a:rPr>
              <a:t>The work only counts as “approved” once there are zero “Ask Human” issues left — this is what makes the retry loop meaningful instead of a rubber stamp.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378"/>
                </a:solidFill>
                <a:latin typeface="Calibri"/>
              </a:rP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6378"/>
                </a:solidFill>
                <a:latin typeface="Calibri"/>
              </a:rPr>
              <a:t>AI DevOS Overview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ED"/>
                </a:solidFill>
                <a:latin typeface="Calibri"/>
              </a:rPr>
              <a:t>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1B3C"/>
                </a:solidFill>
                <a:latin typeface="Calibri"/>
              </a:rPr>
              <a:t>Learning From Experience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005840" cy="508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6492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550" b="1">
                <a:solidFill>
                  <a:srgbClr val="2F6FED"/>
                </a:solidFill>
                <a:latin typeface="Calibri"/>
              </a:rPr>
              <a:t>•  Short-term memory:</a:t>
            </a:r>
            <a:r>
              <a:rPr sz="1550">
                <a:solidFill>
                  <a:srgbClr val="222630"/>
                </a:solidFill>
                <a:latin typeface="Calibri"/>
              </a:rPr>
              <a:t>  Each stage automatically hands its finished work to the next stage — the Architect always sees the Product Owner's approved requirements, for example.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550" b="1">
                <a:solidFill>
                  <a:srgbClr val="2F6FED"/>
                </a:solidFill>
                <a:latin typeface="Calibri"/>
              </a:rPr>
              <a:t>•  Durable memory:</a:t>
            </a:r>
            <a:r>
              <a:rPr sz="1550">
                <a:solidFill>
                  <a:srgbClr val="222630"/>
                </a:solidFill>
                <a:latin typeface="Calibri"/>
              </a:rPr>
              <a:t>  The Designer's approved design spec is kept and handed to both Frontend Developer and QA, even though several stages run in between.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550" b="1">
                <a:solidFill>
                  <a:srgbClr val="2F6FED"/>
                </a:solidFill>
                <a:latin typeface="Calibri"/>
              </a:rPr>
              <a:t>•  Long-term learning:</a:t>
            </a:r>
            <a:r>
              <a:rPr sz="1550">
                <a:solidFill>
                  <a:srgbClr val="222630"/>
                </a:solidFill>
                <a:latin typeface="Calibri"/>
              </a:rPr>
              <a:t>  Every approved piece of work is stored in a searchable “memory” so future stages of the same project can be reminded of relevant past successes.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550" b="1">
                <a:solidFill>
                  <a:srgbClr val="2F6FED"/>
                </a:solidFill>
                <a:latin typeface="Calibri"/>
              </a:rPr>
              <a:t>•  Lessons log:</a:t>
            </a:r>
            <a:r>
              <a:rPr sz="1550">
                <a:solidFill>
                  <a:srgbClr val="222630"/>
                </a:solidFill>
                <a:latin typeface="Calibri"/>
              </a:rPr>
              <a:t>  After every approval, a plain-English lesson is written down — what worked, what had to be fixed — for future reference.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0920" y="1691640"/>
            <a:ext cx="4251960" cy="448056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35240" y="1920240"/>
            <a:ext cx="3703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F6FED"/>
                </a:solidFill>
                <a:latin typeface="Calibri"/>
              </a:rPr>
              <a:t>Why this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423160"/>
            <a:ext cx="37033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0E1B3C"/>
                </a:solidFill>
                <a:latin typeface="Calibri"/>
              </a:rPr>
              <a:t>Without memory, every project would start from zero every time, and every stage would ignore everything the stages before it just decided.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0E1B3C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0E1B3C"/>
                </a:solidFill>
                <a:latin typeface="Calibri"/>
              </a:rPr>
              <a:t>With memory, the pipeline behaves like a team that actually talks to each other — and gets a little smarter with every project it completes.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378"/>
                </a:solidFill>
                <a:latin typeface="Calibri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6378"/>
                </a:solidFill>
                <a:latin typeface="Calibri"/>
              </a:rPr>
              <a:t>AI DevOS Overview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ED"/>
                </a:solidFill>
                <a:latin typeface="Calibri"/>
              </a:rPr>
              <a:t>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1B3C"/>
                </a:solidFill>
                <a:latin typeface="Calibri"/>
              </a:rPr>
              <a:t>Keeping Every Project Separate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005840" cy="508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222630"/>
                </a:solidFill>
                <a:latin typeface="Calibri"/>
              </a:rPr>
              <a:t>Every project gets its own private, locked “filing cabinet” — nothing about Project A can ever leak into Project 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514600"/>
            <a:ext cx="5120640" cy="338328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514600"/>
            <a:ext cx="5120640" cy="640080"/>
          </a:xfrm>
          <a:prstGeom prst="roundRect">
            <a:avLst>
              <a:gd name="adj" fmla="val 6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51206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Project A  —  “Todo App”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337560"/>
            <a:ext cx="4389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350">
                <a:solidFill>
                  <a:srgbClr val="222630"/>
                </a:solidFill>
                <a:latin typeface="Calibri"/>
              </a:rPr>
              <a:t>•  Its own folder of documents &amp; code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350">
                <a:solidFill>
                  <a:srgbClr val="222630"/>
                </a:solidFill>
                <a:latin typeface="Calibri"/>
              </a:rPr>
              <a:t>•  Its own progress tracker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350">
                <a:solidFill>
                  <a:srgbClr val="222630"/>
                </a:solidFill>
                <a:latin typeface="Calibri"/>
              </a:rPr>
              <a:t>•  Its own memory of decisions made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350">
                <a:solidFill>
                  <a:srgbClr val="222630"/>
                </a:solidFill>
                <a:latin typeface="Calibri"/>
              </a:rPr>
              <a:t>•  Its own history of every attempt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514600"/>
            <a:ext cx="5120640" cy="338328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514600"/>
            <a:ext cx="5120640" cy="640080"/>
          </a:xfrm>
          <a:prstGeom prst="roundRect">
            <a:avLst>
              <a:gd name="adj" fmla="val 6000"/>
            </a:avLst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2514600"/>
            <a:ext cx="51206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Project B  —  “RecipeBox”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337560"/>
            <a:ext cx="4389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350">
                <a:solidFill>
                  <a:srgbClr val="222630"/>
                </a:solidFill>
                <a:latin typeface="Calibri"/>
              </a:rPr>
              <a:t>•  Its own folder of documents &amp; code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350">
                <a:solidFill>
                  <a:srgbClr val="222630"/>
                </a:solidFill>
                <a:latin typeface="Calibri"/>
              </a:rPr>
              <a:t>•  Its own progress tracker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350">
                <a:solidFill>
                  <a:srgbClr val="222630"/>
                </a:solidFill>
                <a:latin typeface="Calibri"/>
              </a:rPr>
              <a:t>•  Its own memory of decisions made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350">
                <a:solidFill>
                  <a:srgbClr val="222630"/>
                </a:solidFill>
                <a:latin typeface="Calibri"/>
              </a:rPr>
              <a:t>•  Its own history of every attempt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378"/>
                </a:solidFill>
                <a:latin typeface="Calibri"/>
              </a:rP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6378"/>
                </a:solidFill>
                <a:latin typeface="Calibri"/>
              </a:rPr>
              <a:t>AI DevOS Overview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ED"/>
                </a:solidFill>
                <a:latin typeface="Calibri"/>
              </a:rPr>
              <a:t>UNDER THE 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1B3C"/>
                </a:solidFill>
                <a:latin typeface="Calibri"/>
              </a:rPr>
              <a:t>Technical Architecture (For The Curious)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005840" cy="508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10881360" cy="749808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2377440" cy="749808"/>
          </a:xfrm>
          <a:prstGeom prst="roundRect">
            <a:avLst>
              <a:gd name="adj" fmla="val 6000"/>
            </a:avLst>
          </a:prstGeom>
          <a:solidFill>
            <a:srgbClr val="0E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23774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Calibri"/>
              </a:rPr>
              <a:t>API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691640"/>
            <a:ext cx="81381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630"/>
                </a:solidFill>
                <a:latin typeface="Calibri"/>
              </a:rPr>
              <a:t>FastAPI endpoints: create projects, start the pipeline, check status, fetch artifacts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38658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A6378"/>
                </a:solidFill>
                <a:latin typeface="Calibri"/>
              </a:rPr>
              <a:t>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69464"/>
            <a:ext cx="10881360" cy="749808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569464"/>
            <a:ext cx="2377440" cy="749808"/>
          </a:xfrm>
          <a:prstGeom prst="roundRect">
            <a:avLst>
              <a:gd name="adj" fmla="val 6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69464"/>
            <a:ext cx="23774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Calibri"/>
              </a:rPr>
              <a:t>Workflow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569464"/>
            <a:ext cx="81381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630"/>
                </a:solidFill>
                <a:latin typeface="Calibri"/>
              </a:rPr>
              <a:t>Runs each stage's execute → review → retry cycle; tracks progress per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6440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A6378"/>
                </a:solidFill>
                <a:latin typeface="Calibri"/>
              </a:rPr>
              <a:t>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447288"/>
            <a:ext cx="10881360" cy="749808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3447288"/>
            <a:ext cx="2377440" cy="749808"/>
          </a:xfrm>
          <a:prstGeom prst="roundRect">
            <a:avLst>
              <a:gd name="adj" fmla="val 6000"/>
            </a:avLst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447288"/>
            <a:ext cx="23774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Calibri"/>
              </a:rPr>
              <a:t>Agents &amp; 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3447288"/>
            <a:ext cx="81381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630"/>
                </a:solidFill>
                <a:latin typeface="Calibri"/>
              </a:rPr>
              <a:t>11 role-specific AI agents, each with its own prompt and expected output format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1422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A6378"/>
                </a:solidFill>
                <a:latin typeface="Calibri"/>
              </a:rPr>
              <a:t>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325112"/>
            <a:ext cx="10881360" cy="749808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" y="4325112"/>
            <a:ext cx="2377440" cy="749808"/>
          </a:xfrm>
          <a:prstGeom prst="roundRect">
            <a:avLst>
              <a:gd name="adj" fmla="val 6000"/>
            </a:avLst>
          </a:prstGeom>
          <a:solidFill>
            <a:srgbClr val="E0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325112"/>
            <a:ext cx="23774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Calibri"/>
              </a:rPr>
              <a:t>AI Model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4325112"/>
            <a:ext cx="81381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630"/>
                </a:solidFill>
                <a:latin typeface="Calibri"/>
              </a:rPr>
              <a:t>Talks to a local AI model (Ollama) that actually generates each stage's content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02005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A6378"/>
                </a:solidFill>
                <a:latin typeface="Calibri"/>
              </a:rPr>
              <a:t>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202936"/>
            <a:ext cx="10881360" cy="749808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" y="5202936"/>
            <a:ext cx="2377440" cy="749808"/>
          </a:xfrm>
          <a:prstGeom prst="roundRect">
            <a:avLst>
              <a:gd name="adj" fmla="val 6000"/>
            </a:avLst>
          </a:prstGeom>
          <a:solidFill>
            <a:srgbClr val="2E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202936"/>
            <a:ext cx="23774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Calibri"/>
              </a:rPr>
              <a:t>Storage Layer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5202936"/>
            <a:ext cx="81381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630"/>
                </a:solidFill>
                <a:latin typeface="Calibri"/>
              </a:rPr>
              <a:t>SQLite databases + a project folder tree — every artifact, memory entry, and attempt is saved to disk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378"/>
                </a:solidFill>
                <a:latin typeface="Calibri"/>
              </a:rPr>
              <a:t>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6378"/>
                </a:solidFill>
                <a:latin typeface="Calibri"/>
              </a:rPr>
              <a:t>AI DevOS Overview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ED"/>
                </a:solidFill>
                <a:latin typeface="Calibri"/>
              </a:rPr>
              <a:t>UNDER THE 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1B3C"/>
                </a:solidFill>
                <a:latin typeface="Calibri"/>
              </a:rPr>
              <a:t>The Technology Powering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005840" cy="508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1088136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743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1B3C"/>
                </a:solidFill>
                <a:latin typeface="Calibri"/>
              </a:rPr>
              <a:t>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40" y="1737360"/>
            <a:ext cx="75895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630"/>
                </a:solidFill>
                <a:latin typeface="Calibri"/>
              </a:rPr>
              <a:t>Python 3.12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59152"/>
            <a:ext cx="10881360" cy="621792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359152"/>
            <a:ext cx="2743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1B3C"/>
                </a:solidFill>
                <a:latin typeface="Calibri"/>
              </a:rPr>
              <a:t>Web 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2359152"/>
            <a:ext cx="75895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630"/>
                </a:solidFill>
                <a:latin typeface="Calibri"/>
              </a:rPr>
              <a:t>FastAPI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980944"/>
            <a:ext cx="1088136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80944"/>
            <a:ext cx="2743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1B3C"/>
                </a:solidFill>
                <a:latin typeface="Calibri"/>
              </a:rPr>
              <a:t>AI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2980944"/>
            <a:ext cx="75895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630"/>
                </a:solidFill>
                <a:latin typeface="Calibri"/>
              </a:rPr>
              <a:t>Local LLM via Ollama (e.g. Qwen 2.5 Coder)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602736"/>
            <a:ext cx="10881360" cy="621792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602736"/>
            <a:ext cx="2743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1B3C"/>
                </a:solidFill>
                <a:latin typeface="Calibri"/>
              </a:rPr>
              <a:t>Structured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3602736"/>
            <a:ext cx="75895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630"/>
                </a:solidFill>
                <a:latin typeface="Calibri"/>
              </a:rPr>
              <a:t>Pydantic schemas — validated data, not just free text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224528"/>
            <a:ext cx="1088136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224528"/>
            <a:ext cx="2743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1B3C"/>
                </a:solidFill>
                <a:latin typeface="Calibri"/>
              </a:rPr>
              <a:t>Semantic Memory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40" y="4224528"/>
            <a:ext cx="75895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630"/>
                </a:solidFill>
                <a:latin typeface="Calibri"/>
              </a:rPr>
              <a:t>HNSW vector search + sentence embeddings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846320"/>
            <a:ext cx="10881360" cy="621792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846320"/>
            <a:ext cx="2743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1B3C"/>
                </a:solidFill>
                <a:latin typeface="Calibri"/>
              </a:rPr>
              <a:t>Database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40" y="4846320"/>
            <a:ext cx="75895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630"/>
                </a:solidFill>
                <a:latin typeface="Calibri"/>
              </a:rPr>
              <a:t>SQLite (per-purpose tables: artifacts, memory, lessons, safety checks)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468112"/>
            <a:ext cx="1088136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468112"/>
            <a:ext cx="2743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1B3C"/>
                </a:solidFill>
                <a:latin typeface="Calibri"/>
              </a:rPr>
              <a:t>Testing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40" y="5468112"/>
            <a:ext cx="75895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630"/>
                </a:solidFill>
                <a:latin typeface="Calibri"/>
              </a:rPr>
              <a:t>138 automated tests covering every layer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1737360"/>
            <a:ext cx="10881360" cy="4352544"/>
          </a:xfrm>
          <a:prstGeom prst="rect">
            <a:avLst/>
          </a:prstGeom>
          <a:noFill/>
          <a:ln w="12700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378"/>
                </a:solidFill>
                <a:latin typeface="Calibri"/>
              </a:rPr>
              <a:t>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6378"/>
                </a:solidFill>
                <a:latin typeface="Calibri"/>
              </a:rPr>
              <a:t>AI DevOS Overview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ED"/>
                </a:solidFill>
                <a:latin typeface="Calibri"/>
              </a:rPr>
              <a:t>REAL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1B3C"/>
                </a:solidFill>
                <a:latin typeface="Calibri"/>
              </a:rPr>
              <a:t>Case Study: Building “RecipeBox”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005840" cy="508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5A6378"/>
                </a:solidFill>
                <a:latin typeface="Calibri"/>
              </a:rPr>
              <a:t>Input given to the system: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11064240" cy="594360"/>
          </a:xfrm>
          <a:prstGeom prst="roundRect">
            <a:avLst>
              <a:gd name="adj" fmla="val 15000"/>
            </a:avLst>
          </a:prstGeom>
          <a:solidFill>
            <a:srgbClr val="0E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5156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1">
                <a:solidFill>
                  <a:srgbClr val="FFFFFF"/>
                </a:solidFill>
                <a:latin typeface="Calibri"/>
              </a:rPr>
              <a:t>“Build a recipe sharing app called RecipeBox where users can post recipes with photos and rate other users' recipes.”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5A6378"/>
                </a:solidFill>
                <a:latin typeface="Calibri"/>
              </a:rPr>
              <a:t>What came out, automatically: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46120"/>
            <a:ext cx="110642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400">
                <a:solidFill>
                  <a:srgbClr val="222630"/>
                </a:solidFill>
                <a:latin typeface="Calibri"/>
              </a:rPr>
              <a:t>•  A requirements document with real user stories (“As a home cook, I want to search recipes by ingredient…”)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400">
                <a:solidFill>
                  <a:srgbClr val="222630"/>
                </a:solidFill>
                <a:latin typeface="Calibri"/>
              </a:rPr>
              <a:t>•  A named architecture (Task Manager, User Interface, API Gateway, Database) with a full API design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400">
                <a:solidFill>
                  <a:srgbClr val="222630"/>
                </a:solidFill>
                <a:latin typeface="Calibri"/>
              </a:rPr>
              <a:t>•  A complete UI/UX design spec: screens, user flows, components, and a design system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400">
                <a:solidFill>
                  <a:srgbClr val="222630"/>
                </a:solidFill>
                <a:latin typeface="Calibri"/>
              </a:rPr>
              <a:t>•  A security review naming specific, real risks (e.g. SQL injection in recipe search) with fixes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400">
                <a:solidFill>
                  <a:srgbClr val="222630"/>
                </a:solidFill>
                <a:latin typeface="Calibri"/>
              </a:rPr>
              <a:t>•  Working backend code, frontend code, a QA test plan, documentation, and a deployment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378"/>
                </a:solidFill>
                <a:latin typeface="Calibri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6378"/>
                </a:solidFill>
                <a:latin typeface="Calibri"/>
              </a:rPr>
              <a:t>AI DevOS Overview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ED"/>
                </a:solidFill>
                <a:latin typeface="Calibri"/>
              </a:rPr>
              <a:t>THE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1B3C"/>
                </a:solidFill>
                <a:latin typeface="Calibri"/>
              </a:rPr>
              <a:t>What You Get At The 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005840" cy="508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222630"/>
                </a:solidFill>
                <a:latin typeface="Calibri"/>
              </a:rPr>
              <a:t>For every project, in a private folder that's yours: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606040" cy="960120"/>
          </a:xfrm>
          <a:prstGeom prst="roundRect">
            <a:avLst>
              <a:gd name="adj" fmla="val 15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26060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E1B3C"/>
                </a:solidFill>
                <a:latin typeface="Calibri"/>
              </a:rPr>
              <a:t>Requirements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194560"/>
            <a:ext cx="2606040" cy="960120"/>
          </a:xfrm>
          <a:prstGeom prst="roundRect">
            <a:avLst>
              <a:gd name="adj" fmla="val 15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2194560"/>
            <a:ext cx="26060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E1B3C"/>
                </a:solidFill>
                <a:latin typeface="Calibri"/>
              </a:rPr>
              <a:t>Architecture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194560"/>
            <a:ext cx="2606040" cy="960120"/>
          </a:xfrm>
          <a:prstGeom prst="roundRect">
            <a:avLst>
              <a:gd name="adj" fmla="val 15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194560"/>
            <a:ext cx="26060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E1B3C"/>
                </a:solidFill>
                <a:latin typeface="Calibri"/>
              </a:rPr>
              <a:t>UI/UX Design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40" y="2194560"/>
            <a:ext cx="2606040" cy="960120"/>
          </a:xfrm>
          <a:prstGeom prst="roundRect">
            <a:avLst>
              <a:gd name="adj" fmla="val 15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6840" y="2194560"/>
            <a:ext cx="26060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E1B3C"/>
                </a:solidFill>
                <a:latin typeface="Calibri"/>
              </a:rPr>
              <a:t>Security Report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337560"/>
            <a:ext cx="2606040" cy="960120"/>
          </a:xfrm>
          <a:prstGeom prst="roundRect">
            <a:avLst>
              <a:gd name="adj" fmla="val 15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37560"/>
            <a:ext cx="26060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E1B3C"/>
                </a:solidFill>
                <a:latin typeface="Calibri"/>
              </a:rPr>
              <a:t>Backend Code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3337560"/>
            <a:ext cx="2606040" cy="960120"/>
          </a:xfrm>
          <a:prstGeom prst="roundRect">
            <a:avLst>
              <a:gd name="adj" fmla="val 15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9000" y="3337560"/>
            <a:ext cx="26060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E1B3C"/>
                </a:solidFill>
                <a:latin typeface="Calibri"/>
              </a:rPr>
              <a:t>Frontend Code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337560"/>
            <a:ext cx="2606040" cy="960120"/>
          </a:xfrm>
          <a:prstGeom prst="roundRect">
            <a:avLst>
              <a:gd name="adj" fmla="val 15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3337560"/>
            <a:ext cx="26060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E1B3C"/>
                </a:solidFill>
                <a:latin typeface="Calibri"/>
              </a:rPr>
              <a:t>QA Test Plan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40" y="3337560"/>
            <a:ext cx="2606040" cy="960120"/>
          </a:xfrm>
          <a:prstGeom prst="roundRect">
            <a:avLst>
              <a:gd name="adj" fmla="val 15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6840" y="3337560"/>
            <a:ext cx="26060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E1B3C"/>
                </a:solidFill>
                <a:latin typeface="Calibri"/>
              </a:rPr>
              <a:t>Documentation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0560"/>
            <a:ext cx="2606040" cy="960120"/>
          </a:xfrm>
          <a:prstGeom prst="roundRect">
            <a:avLst>
              <a:gd name="adj" fmla="val 15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480560"/>
            <a:ext cx="26060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E1B3C"/>
                </a:solidFill>
                <a:latin typeface="Calibri"/>
              </a:rPr>
              <a:t>Deployment Plan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9000" y="4480560"/>
            <a:ext cx="2606040" cy="960120"/>
          </a:xfrm>
          <a:prstGeom prst="roundRect">
            <a:avLst>
              <a:gd name="adj" fmla="val 15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29000" y="4480560"/>
            <a:ext cx="26060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E1B3C"/>
                </a:solidFill>
                <a:latin typeface="Calibri"/>
              </a:rPr>
              <a:t>Retrospective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480560"/>
            <a:ext cx="2606040" cy="960120"/>
          </a:xfrm>
          <a:prstGeom prst="roundRect">
            <a:avLst>
              <a:gd name="adj" fmla="val 15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4480560"/>
            <a:ext cx="26060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E1B3C"/>
                </a:solidFill>
                <a:latin typeface="Calibri"/>
              </a:rPr>
              <a:t>Full History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5A6378"/>
                </a:solidFill>
                <a:latin typeface="Calibri"/>
              </a:rPr>
              <a:t>Each item exists both as a readable document and as structured data, plus every draft attempt along the way.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378"/>
                </a:solidFill>
                <a:latin typeface="Calibri"/>
              </a:rPr>
              <a:t>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6378"/>
                </a:solidFill>
                <a:latin typeface="Calibri"/>
              </a:rPr>
              <a:t>AI DevOS Overview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ED"/>
                </a:solidFill>
                <a:latin typeface="Calibri"/>
              </a:rPr>
              <a:t>WHERE THINGS STAND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1B3C"/>
                </a:solidFill>
                <a:latin typeface="Calibri"/>
              </a:rPr>
              <a:t>Current Status &amp; What's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005840" cy="508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EA04A"/>
                </a:solidFill>
                <a:latin typeface="Calibri"/>
              </a:rPr>
              <a:t>Working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5394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222630"/>
                </a:solidFill>
                <a:latin typeface="Calibri"/>
              </a:rPr>
              <a:t>•  All 11 stages run end-to-end, automatically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222630"/>
                </a:solidFill>
                <a:latin typeface="Calibri"/>
              </a:rPr>
              <a:t>•  Every stage is a real AI call — zero placeholders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222630"/>
                </a:solidFill>
                <a:latin typeface="Calibri"/>
              </a:rPr>
              <a:t>•  Automatic quality review + retry with feedback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222630"/>
                </a:solidFill>
                <a:latin typeface="Calibri"/>
              </a:rPr>
              <a:t>•  Projects fully isolated from one another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222630"/>
                </a:solidFill>
                <a:latin typeface="Calibri"/>
              </a:rPr>
              <a:t>•  Full REST API: create, run, inspect, delete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222630"/>
                </a:solidFill>
                <a:latin typeface="Calibri"/>
              </a:rPr>
              <a:t>•  138 automated tests passing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64592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08A1B"/>
                </a:solidFill>
                <a:latin typeface="Calibri"/>
              </a:rPr>
              <a:t>On the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2103120"/>
            <a:ext cx="5394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222630"/>
                </a:solidFill>
                <a:latin typeface="Calibri"/>
              </a:rPr>
              <a:t>•  Pause / resume a running project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222630"/>
                </a:solidFill>
                <a:latin typeface="Calibri"/>
              </a:rPr>
              <a:t>•  A simple web dashboard (today it's API-only)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222630"/>
                </a:solidFill>
                <a:latin typeface="Calibri"/>
              </a:rPr>
              <a:t>•  Smarter cross-stage quality checks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222630"/>
                </a:solidFill>
                <a:latin typeface="Calibri"/>
              </a:rPr>
              <a:t>•  Support for additional AI models/providers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378"/>
                </a:solidFill>
                <a:latin typeface="Calibri"/>
              </a:rPr>
              <a:t>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6378"/>
                </a:solidFill>
                <a:latin typeface="Calibri"/>
              </a:rPr>
              <a:t>AI DevOS Overview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63240"/>
            <a:ext cx="12191695" cy="381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C7D3EE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093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A6378"/>
                </a:solidFill>
                <a:latin typeface="Calibri"/>
              </a:rPr>
              <a:t>AI DevOS  —  An Autonomous Multi-Agent Software Development Pipeline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